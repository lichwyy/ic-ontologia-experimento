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8288000" cy="10287000"/>
  <p:notesSz cx="6858000" cy="9144000"/>
  <p:embeddedFontLst>
    <p:embeddedFont>
      <p:font typeface="Montserrat Bold" panose="020B0604020202020204" charset="0"/>
      <p:regular r:id="rId4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E0EF"/>
    <a:srgbClr val="113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2B713-4FF2-495B-B9CD-AD7FCDF5614D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48743-0A4F-4BA6-8B82-3FBB468671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00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B92B-3AE2-A462-87EE-3C0177FB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C28759-973A-8FD9-CBB8-88E80623514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"/>
            <a:ext cx="18285714" cy="1028571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7CBF20D-125A-9C6E-3AFE-56F8B4992BF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549" b="54631"/>
          <a:stretch>
            <a:fillRect/>
          </a:stretch>
        </p:blipFill>
        <p:spPr>
          <a:xfrm rot="8474727">
            <a:off x="-684797" y="6599071"/>
            <a:ext cx="1981200" cy="215601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04A16B4-2A03-8AB0-518D-F738198F6E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53" t="46048" r="8616" b="8583"/>
          <a:stretch>
            <a:fillRect/>
          </a:stretch>
        </p:blipFill>
        <p:spPr>
          <a:xfrm>
            <a:off x="13495769" y="8938807"/>
            <a:ext cx="2743200" cy="28194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841883B-249F-0B0D-36CE-D996C4B398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01" r="35166" b="59809"/>
          <a:stretch>
            <a:fillRect/>
          </a:stretch>
        </p:blipFill>
        <p:spPr>
          <a:xfrm rot="18634184">
            <a:off x="35717" y="-461665"/>
            <a:ext cx="2122802" cy="267612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86E1D14-665F-FF31-A2C3-B066BDA79A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92" t="49379" r="61099" b="1574"/>
          <a:stretch>
            <a:fillRect/>
          </a:stretch>
        </p:blipFill>
        <p:spPr>
          <a:xfrm rot="6073773">
            <a:off x="17702458" y="1466829"/>
            <a:ext cx="857705" cy="902847"/>
          </a:xfrm>
          <a:prstGeom prst="rect">
            <a:avLst/>
          </a:prstGeom>
        </p:spPr>
      </p:pic>
      <p:sp>
        <p:nvSpPr>
          <p:cNvPr id="13" name="Freeform 20">
            <a:extLst>
              <a:ext uri="{FF2B5EF4-FFF2-40B4-BE49-F238E27FC236}">
                <a16:creationId xmlns:a16="http://schemas.microsoft.com/office/drawing/2014/main" id="{843B3777-1549-6C4E-DB0D-F9B86F34F455}"/>
              </a:ext>
            </a:extLst>
          </p:cNvPr>
          <p:cNvSpPr/>
          <p:nvPr/>
        </p:nvSpPr>
        <p:spPr>
          <a:xfrm>
            <a:off x="838200" y="686924"/>
            <a:ext cx="828267" cy="676014"/>
          </a:xfrm>
          <a:custGeom>
            <a:avLst/>
            <a:gdLst/>
            <a:ahLst/>
            <a:cxnLst/>
            <a:rect l="l" t="t" r="r" b="b"/>
            <a:pathLst>
              <a:path w="731336" h="596901">
                <a:moveTo>
                  <a:pt x="0" y="0"/>
                </a:moveTo>
                <a:lnTo>
                  <a:pt x="731337" y="0"/>
                </a:lnTo>
                <a:lnTo>
                  <a:pt x="731337" y="596901"/>
                </a:lnTo>
                <a:lnTo>
                  <a:pt x="0" y="5969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53547" b="-28219"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386B488-08DF-CF66-553F-629CCBEF912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4" t="31479" r="40832" b="21107"/>
          <a:stretch>
            <a:fillRect/>
          </a:stretch>
        </p:blipFill>
        <p:spPr>
          <a:xfrm>
            <a:off x="-972774" y="1864254"/>
            <a:ext cx="6477000" cy="628072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F303BD2F-DFF5-6BF4-4EF4-C872D46DA2C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4" t="31479" r="40832" b="21107"/>
          <a:stretch>
            <a:fillRect/>
          </a:stretch>
        </p:blipFill>
        <p:spPr>
          <a:xfrm>
            <a:off x="8610600" y="5448300"/>
            <a:ext cx="3462017" cy="3357108"/>
          </a:xfrm>
          <a:prstGeom prst="rect">
            <a:avLst/>
          </a:prstGeom>
        </p:spPr>
      </p:pic>
      <p:sp>
        <p:nvSpPr>
          <p:cNvPr id="20" name="TextBox 25">
            <a:extLst>
              <a:ext uri="{FF2B5EF4-FFF2-40B4-BE49-F238E27FC236}">
                <a16:creationId xmlns:a16="http://schemas.microsoft.com/office/drawing/2014/main" id="{B93F55D9-7571-CA10-0E5F-B56EAED4185D}"/>
              </a:ext>
            </a:extLst>
          </p:cNvPr>
          <p:cNvSpPr txBox="1"/>
          <p:nvPr/>
        </p:nvSpPr>
        <p:spPr>
          <a:xfrm>
            <a:off x="2669966" y="560723"/>
            <a:ext cx="12948068" cy="76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pt-BR" sz="2499" b="1" dirty="0">
                <a:solidFill>
                  <a:schemeClr val="tx2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Representação Computacional de Conhecimento Tecnológico Expresso em </a:t>
            </a:r>
            <a:r>
              <a:rPr lang="pt-BR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Claims</a:t>
            </a:r>
            <a:r>
              <a:rPr lang="pt-BR" sz="2499" b="1" dirty="0">
                <a:solidFill>
                  <a:schemeClr val="tx2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Patentárias por Meio de Estruturas Semânticas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61EEC4E0-F753-0B4B-8C83-635ED204350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60353" y="8163195"/>
            <a:ext cx="1857105" cy="1857105"/>
          </a:xfrm>
          <a:prstGeom prst="rect">
            <a:avLst/>
          </a:prstGeom>
          <a:ln>
            <a:noFill/>
          </a:ln>
        </p:spPr>
      </p:pic>
      <p:sp>
        <p:nvSpPr>
          <p:cNvPr id="24" name="AutoShape 21">
            <a:extLst>
              <a:ext uri="{FF2B5EF4-FFF2-40B4-BE49-F238E27FC236}">
                <a16:creationId xmlns:a16="http://schemas.microsoft.com/office/drawing/2014/main" id="{7CEC8224-860C-62D5-3EB1-B3A0D6F2796D}"/>
              </a:ext>
            </a:extLst>
          </p:cNvPr>
          <p:cNvSpPr/>
          <p:nvPr/>
        </p:nvSpPr>
        <p:spPr>
          <a:xfrm>
            <a:off x="5638800" y="1864254"/>
            <a:ext cx="0" cy="7016249"/>
          </a:xfrm>
          <a:prstGeom prst="line">
            <a:avLst/>
          </a:prstGeom>
          <a:ln w="38100" cap="flat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83046832-8360-D07E-B478-DBF1751B28E3}"/>
              </a:ext>
            </a:extLst>
          </p:cNvPr>
          <p:cNvSpPr/>
          <p:nvPr/>
        </p:nvSpPr>
        <p:spPr>
          <a:xfrm>
            <a:off x="12954000" y="1864254"/>
            <a:ext cx="0" cy="7016249"/>
          </a:xfrm>
          <a:prstGeom prst="line">
            <a:avLst/>
          </a:prstGeom>
          <a:ln w="38100" cap="flat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6A420C-19A9-52CE-6D50-0988FB754538}"/>
              </a:ext>
            </a:extLst>
          </p:cNvPr>
          <p:cNvSpPr txBox="1"/>
          <p:nvPr/>
        </p:nvSpPr>
        <p:spPr>
          <a:xfrm>
            <a:off x="704914" y="1911879"/>
            <a:ext cx="183564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9"/>
              </a:lnSpc>
              <a:spcBef>
                <a:spcPct val="0"/>
              </a:spcBef>
            </a:pPr>
            <a:r>
              <a:rPr lang="en-US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Introdução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DF9730F6-B883-9FB7-B81A-99E736E82CD9}"/>
              </a:ext>
            </a:extLst>
          </p:cNvPr>
          <p:cNvSpPr txBox="1"/>
          <p:nvPr/>
        </p:nvSpPr>
        <p:spPr>
          <a:xfrm>
            <a:off x="704914" y="5710085"/>
            <a:ext cx="141624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9"/>
              </a:lnSpc>
              <a:spcBef>
                <a:spcPct val="0"/>
              </a:spcBef>
            </a:pPr>
            <a:r>
              <a:rPr lang="en-US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sym typeface="Montserrat Bold"/>
              </a:rPr>
              <a:t>Objetivo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sym typeface="Montserrat Bold"/>
            </a:endParaRP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0040E09C-13B2-7B90-F16A-222E94B58653}"/>
              </a:ext>
            </a:extLst>
          </p:cNvPr>
          <p:cNvSpPr txBox="1"/>
          <p:nvPr/>
        </p:nvSpPr>
        <p:spPr>
          <a:xfrm>
            <a:off x="5888931" y="1931874"/>
            <a:ext cx="209445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9"/>
              </a:lnSpc>
              <a:spcBef>
                <a:spcPct val="0"/>
              </a:spcBef>
            </a:pPr>
            <a:r>
              <a:rPr lang="en-US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sym typeface="Montserrat Bold"/>
              </a:rPr>
              <a:t>Metodologia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sym typeface="Montserrat Bold"/>
            </a:endParaRPr>
          </a:p>
        </p:txBody>
      </p:sp>
      <p:sp>
        <p:nvSpPr>
          <p:cNvPr id="34" name="TextBox 30">
            <a:extLst>
              <a:ext uri="{FF2B5EF4-FFF2-40B4-BE49-F238E27FC236}">
                <a16:creationId xmlns:a16="http://schemas.microsoft.com/office/drawing/2014/main" id="{D9675B1E-C626-1F92-3896-C6ACCD1BC573}"/>
              </a:ext>
            </a:extLst>
          </p:cNvPr>
          <p:cNvSpPr txBox="1"/>
          <p:nvPr/>
        </p:nvSpPr>
        <p:spPr>
          <a:xfrm>
            <a:off x="13150790" y="5676900"/>
            <a:ext cx="196110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9"/>
              </a:lnSpc>
              <a:spcBef>
                <a:spcPct val="0"/>
              </a:spcBef>
            </a:pPr>
            <a:r>
              <a:rPr lang="en-US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sym typeface="Montserrat Bold"/>
              </a:rPr>
              <a:t>Referências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sym typeface="Montserrat Bold"/>
            </a:endParaRPr>
          </a:p>
        </p:txBody>
      </p:sp>
      <p:sp>
        <p:nvSpPr>
          <p:cNvPr id="36" name="TextBox 31">
            <a:extLst>
              <a:ext uri="{FF2B5EF4-FFF2-40B4-BE49-F238E27FC236}">
                <a16:creationId xmlns:a16="http://schemas.microsoft.com/office/drawing/2014/main" id="{A53C0586-53AE-729C-3BA5-7DF092EBF349}"/>
              </a:ext>
            </a:extLst>
          </p:cNvPr>
          <p:cNvSpPr txBox="1"/>
          <p:nvPr/>
        </p:nvSpPr>
        <p:spPr>
          <a:xfrm>
            <a:off x="704914" y="2360029"/>
            <a:ext cx="4671485" cy="2340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claims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patentárias concentram componentes, funções, mecanismos e relações tecnológicas cuja estrutura ultrapassa uma descrição apenas textual. Ontologias permitem explicitar conceitos e relações de domínio (Gruber, 1993), enquanto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Knowledge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Graphs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organizam entidades e vínculos semanticamente definidos (Hogan et al., 2021).</a:t>
            </a: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8C81BBC2-FF9D-A45F-CC98-0DBD434E0FE7}"/>
              </a:ext>
            </a:extLst>
          </p:cNvPr>
          <p:cNvSpPr txBox="1"/>
          <p:nvPr/>
        </p:nvSpPr>
        <p:spPr>
          <a:xfrm>
            <a:off x="688281" y="6158236"/>
            <a:ext cx="4688118" cy="1456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Investigar formas de representação computacional do conhecimento tecnológico expresso em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claims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patentárias por meio de estruturas semânticas fundamentadas em ontologias,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Semantic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Web e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Knowledge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Graphs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166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520F4187-0549-C8FC-5CB4-00A1CDC71AE2}"/>
              </a:ext>
            </a:extLst>
          </p:cNvPr>
          <p:cNvSpPr txBox="1"/>
          <p:nvPr/>
        </p:nvSpPr>
        <p:spPr>
          <a:xfrm>
            <a:off x="5884286" y="2360830"/>
            <a:ext cx="4025467" cy="2930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Claims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tecnologias robóticas relacionadas à Petrobras foram analisadas pelas dimensões “o que é”, “o que faz”, “como faz” e “como se relaciona”. A partir da patente inicial, foi construído no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Protégé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um núcleo ontológico reduzido, depois aplicado parcialmente a uma segunda patente para observar reutilização e necessidade de expansão (Gruber, 1993).</a:t>
            </a:r>
            <a:endParaRPr lang="en-US" sz="166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TextBox 34">
            <a:extLst>
              <a:ext uri="{FF2B5EF4-FFF2-40B4-BE49-F238E27FC236}">
                <a16:creationId xmlns:a16="http://schemas.microsoft.com/office/drawing/2014/main" id="{70D493B3-BE6D-EA98-BF64-3263C28152CF}"/>
              </a:ext>
            </a:extLst>
          </p:cNvPr>
          <p:cNvSpPr txBox="1"/>
          <p:nvPr/>
        </p:nvSpPr>
        <p:spPr>
          <a:xfrm>
            <a:off x="13199487" y="6243485"/>
            <a:ext cx="4671484" cy="2045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en-US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GRUBER, T. R. A Translation Approach to Portable Ontology Specifications, 1993.</a:t>
            </a:r>
          </a:p>
          <a:p>
            <a:pPr algn="just">
              <a:lnSpc>
                <a:spcPts val="2329"/>
              </a:lnSpc>
              <a:spcBef>
                <a:spcPct val="0"/>
              </a:spcBef>
            </a:pPr>
            <a:endParaRPr lang="en-US" sz="166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en-US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HOGAN, A. et al. Knowledge Graphs, 2021. </a:t>
            </a:r>
          </a:p>
          <a:p>
            <a:pPr algn="just">
              <a:lnSpc>
                <a:spcPts val="2329"/>
              </a:lnSpc>
              <a:spcBef>
                <a:spcPct val="0"/>
              </a:spcBef>
            </a:pPr>
            <a:endParaRPr lang="en-US" sz="166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en-US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ALLEMANG, D.; HENDLER, J. Semantic Web for the Working </a:t>
            </a:r>
            <a:r>
              <a:rPr lang="en-US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Ontologist</a:t>
            </a:r>
            <a:r>
              <a:rPr lang="en-US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2020. </a:t>
            </a: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26A1868F-4C09-1473-3237-C97342E88089}"/>
              </a:ext>
            </a:extLst>
          </p:cNvPr>
          <p:cNvSpPr txBox="1"/>
          <p:nvPr/>
        </p:nvSpPr>
        <p:spPr>
          <a:xfrm>
            <a:off x="13150790" y="1911879"/>
            <a:ext cx="173369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9"/>
              </a:lnSpc>
              <a:spcBef>
                <a:spcPct val="0"/>
              </a:spcBef>
            </a:pPr>
            <a:r>
              <a:rPr lang="en-US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sym typeface="Montserrat Bold"/>
              </a:rPr>
              <a:t>Conclusão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sym typeface="Montserrat Bold"/>
            </a:endParaRPr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58064099-4C47-C653-9756-00B85AD2171A}"/>
              </a:ext>
            </a:extLst>
          </p:cNvPr>
          <p:cNvSpPr txBox="1"/>
          <p:nvPr/>
        </p:nvSpPr>
        <p:spPr>
          <a:xfrm>
            <a:off x="5888931" y="5699615"/>
            <a:ext cx="1677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9"/>
              </a:lnSpc>
              <a:spcBef>
                <a:spcPct val="0"/>
              </a:spcBef>
            </a:pPr>
            <a:r>
              <a:rPr lang="en-US" sz="2499" b="1" dirty="0" err="1">
                <a:solidFill>
                  <a:schemeClr val="tx2">
                    <a:lumMod val="75000"/>
                  </a:schemeClr>
                </a:solidFill>
                <a:latin typeface="Montserrat Bold"/>
                <a:sym typeface="Montserrat Bold"/>
              </a:rPr>
              <a:t>Resultado</a:t>
            </a:r>
            <a:endParaRPr lang="en-US" sz="2499" b="1" dirty="0">
              <a:solidFill>
                <a:schemeClr val="tx2">
                  <a:lumMod val="75000"/>
                </a:schemeClr>
              </a:solidFill>
              <a:latin typeface="Montserrat Bold"/>
              <a:sym typeface="Montserrat Bold"/>
            </a:endParaRPr>
          </a:p>
        </p:txBody>
      </p:sp>
      <p:pic>
        <p:nvPicPr>
          <p:cNvPr id="48" name="Imagem 47" descr="Ícone&#10;&#10;O conteúdo gerado por IA pode estar incorreto.">
            <a:extLst>
              <a:ext uri="{FF2B5EF4-FFF2-40B4-BE49-F238E27FC236}">
                <a16:creationId xmlns:a16="http://schemas.microsoft.com/office/drawing/2014/main" id="{A0B6DCB6-F8D4-B295-9754-58E18043050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202" y="6186374"/>
            <a:ext cx="2725753" cy="272575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0" name="Imagem 49" descr="Ícone&#10;&#10;O conteúdo gerado por IA pode estar incorreto.">
            <a:extLst>
              <a:ext uri="{FF2B5EF4-FFF2-40B4-BE49-F238E27FC236}">
                <a16:creationId xmlns:a16="http://schemas.microsoft.com/office/drawing/2014/main" id="{D86D2A21-24E0-89A2-BF0C-7E684DE2C9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329" y="2360029"/>
            <a:ext cx="2725753" cy="2725753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2" name="TextBox 31">
            <a:extLst>
              <a:ext uri="{FF2B5EF4-FFF2-40B4-BE49-F238E27FC236}">
                <a16:creationId xmlns:a16="http://schemas.microsoft.com/office/drawing/2014/main" id="{92FC57E8-1BB0-3500-FCDF-0DE5BE2C4AC9}"/>
              </a:ext>
            </a:extLst>
          </p:cNvPr>
          <p:cNvSpPr txBox="1"/>
          <p:nvPr/>
        </p:nvSpPr>
        <p:spPr>
          <a:xfrm>
            <a:off x="13199486" y="2360029"/>
            <a:ext cx="4671485" cy="2635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experimento preliminar mostrou que um núcleo ontológico reduzido pode representar parte do conhecimento tecnológico de </a:t>
            </a:r>
            <a:r>
              <a:rPr lang="pt-BR" sz="166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claims</a:t>
            </a: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distintas e reutilizar conceitos gerais. A comparação também revelou limites de cobertura e a necessidade de expansão controlada. O modelo permanece exploratório e não representa integralmente as patentes analisadas.</a:t>
            </a:r>
            <a:endParaRPr lang="en-US" sz="166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TextBox 33">
            <a:extLst>
              <a:ext uri="{FF2B5EF4-FFF2-40B4-BE49-F238E27FC236}">
                <a16:creationId xmlns:a16="http://schemas.microsoft.com/office/drawing/2014/main" id="{729F3B96-9A71-27D8-6858-ED4A85529263}"/>
              </a:ext>
            </a:extLst>
          </p:cNvPr>
          <p:cNvSpPr txBox="1"/>
          <p:nvPr/>
        </p:nvSpPr>
        <p:spPr>
          <a:xfrm>
            <a:off x="8935634" y="6115931"/>
            <a:ext cx="3709687" cy="322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29"/>
              </a:lnSpc>
              <a:spcBef>
                <a:spcPct val="0"/>
              </a:spcBef>
            </a:pPr>
            <a:r>
              <a:rPr lang="pt-BR" sz="166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Foi construída uma ontologia preliminar com classes de sistemas, veículos, componentes, funções e mecanismos. Na aplicação reduzida à segunda patente, conceitos gerais como Sistema, Veículo, Componente e Roda puderam ser reutilizados. Também surgiram conceitos específicos, como detecção NORM e emissão de ultrassom, ainda fora do núcleo inicial.</a:t>
            </a:r>
            <a:endParaRPr lang="en-US" sz="166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83A60F9B-708F-ACEB-9AEE-12C221D19272}"/>
              </a:ext>
            </a:extLst>
          </p:cNvPr>
          <p:cNvSpPr txBox="1"/>
          <p:nvPr/>
        </p:nvSpPr>
        <p:spPr>
          <a:xfrm>
            <a:off x="688281" y="9710610"/>
            <a:ext cx="13103916" cy="306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Paulo Henrique Almeida Veloso Leite, Rafael Gutierres Castanha</a:t>
            </a:r>
          </a:p>
        </p:txBody>
      </p:sp>
      <p:pic>
        <p:nvPicPr>
          <p:cNvPr id="8" name="Imagem 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7BE697ED-7127-A666-6C52-2570107A874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321674"/>
            <a:ext cx="1663336" cy="935626"/>
          </a:xfrm>
          <a:prstGeom prst="rect">
            <a:avLst/>
          </a:prstGeom>
        </p:spPr>
      </p:pic>
      <p:sp>
        <p:nvSpPr>
          <p:cNvPr id="6" name="TextBox 35">
            <a:extLst>
              <a:ext uri="{FF2B5EF4-FFF2-40B4-BE49-F238E27FC236}">
                <a16:creationId xmlns:a16="http://schemas.microsoft.com/office/drawing/2014/main" id="{B67F69AB-4426-114C-FCE4-99D74E69771C}"/>
              </a:ext>
            </a:extLst>
          </p:cNvPr>
          <p:cNvSpPr txBox="1"/>
          <p:nvPr/>
        </p:nvSpPr>
        <p:spPr>
          <a:xfrm>
            <a:off x="6664836" y="142101"/>
            <a:ext cx="495832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II MOSTRA DE INICIAÇÃO CIENTÍFICA — UNIMAR</a:t>
            </a:r>
            <a:endParaRPr lang="en-US" sz="2499" b="1" dirty="0">
              <a:solidFill>
                <a:schemeClr val="accent1">
                  <a:lumMod val="75000"/>
                </a:schemeClr>
              </a:solidFill>
              <a:latin typeface="Montserrat Bold"/>
              <a:sym typeface="Montserrat Bold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5B4971C-B289-A422-426A-FEBD680E1D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7407" y="1953894"/>
            <a:ext cx="2966591" cy="347046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732A41C-CA98-7216-73BC-3C704F39FDE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096" b="27538"/>
          <a:stretch>
            <a:fillRect/>
          </a:stretch>
        </p:blipFill>
        <p:spPr>
          <a:xfrm>
            <a:off x="5776751" y="6152524"/>
            <a:ext cx="2933827" cy="272575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3634ACA-DD85-A3F0-E7CD-6AB88960F2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09035" y="8198521"/>
            <a:ext cx="1907422" cy="191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1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329</Words>
  <Application>Microsoft Office PowerPoint</Application>
  <PresentationFormat>Personalizar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Montserrat Bold</vt:lpstr>
      <vt:lpstr>Calibri</vt:lpstr>
      <vt:lpstr>Open Sans</vt:lpstr>
      <vt:lpstr>Aptos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Referencial teórico</dc:title>
  <dc:creator>Eduardo Menezes</dc:creator>
  <cp:lastModifiedBy>PAULO HENRIQUE ALMEIDA VELOSO LEITE</cp:lastModifiedBy>
  <cp:revision>15</cp:revision>
  <dcterms:created xsi:type="dcterms:W3CDTF">2006-08-16T00:00:00Z</dcterms:created>
  <dcterms:modified xsi:type="dcterms:W3CDTF">2026-09-18T19:02:28Z</dcterms:modified>
  <dc:identifier>DAGwdbdxbks</dc:identifier>
</cp:coreProperties>
</file>